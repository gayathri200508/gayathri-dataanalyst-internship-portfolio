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0C4F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Accessories</c:v>
                  </c:pt>
                  <c:pt idx="1">
                    <c:v>Traditional
Wear</c:v>
                  </c:pt>
                  <c:pt idx="2">
                    <c:v>Western
Wear</c:v>
                  </c:pt>
                  <c:pt idx="3">
                    <c:v>Footwear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512180</c:v>
                </c:pt>
                <c:pt idx="1">
                  <c:v>174179</c:v>
                </c:pt>
                <c:pt idx="2">
                  <c:v>157612</c:v>
                </c:pt>
                <c:pt idx="3">
                  <c:v>52503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E3E"/>
              </a:solidFill>
              <a:effectLst/>
            </c:spPr>
          </c:dPt>
          <c:dPt>
            <c:idx val="1"/>
            <c:bubble3D val="0"/>
            <c:spPr>
              <a:solidFill>
                <a:srgbClr val="38A169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Returned</c:v>
                </c:pt>
                <c:pt idx="1">
                  <c:v>Delivered</c:v>
                </c:pt>
                <c:pt idx="2">
                  <c:v>Cancelled</c:v>
                </c:pt>
                <c:pt idx="3">
                  <c:v>Pending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31</c:v>
                </c:pt>
                <c:pt idx="1">
                  <c:v>28</c:v>
                </c:pt>
                <c:pt idx="2">
                  <c:v>27</c:v>
                </c:pt>
                <c:pt idx="3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Orders by City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0C4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Bangalore</c:v>
                  </c:pt>
                  <c:pt idx="1">
                    <c:v>Pune</c:v>
                  </c:pt>
                  <c:pt idx="2">
                    <c:v>Kolkata</c:v>
                  </c:pt>
                  <c:pt idx="3">
                    <c:v>Hyderabad</c:v>
                  </c:pt>
                  <c:pt idx="4">
                    <c:v>Jaipur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17</c:v>
                </c:pt>
                <c:pt idx="2">
                  <c:v>16</c:v>
                </c:pt>
                <c:pt idx="3">
                  <c:v>14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Payment Method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E85D04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UPI</c:v>
                </c:pt>
                <c:pt idx="1">
                  <c:v>Net Banking</c:v>
                </c:pt>
                <c:pt idx="2">
                  <c:v>Cash</c:v>
                </c:pt>
                <c:pt idx="3">
                  <c:v>Credit Card</c:v>
                </c:pt>
                <c:pt idx="4">
                  <c:v>Debit Card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29</c:v>
                </c:pt>
                <c:pt idx="1">
                  <c:v>22</c:v>
                </c:pt>
                <c:pt idx="2">
                  <c:v>20</c:v>
                </c:pt>
                <c:pt idx="3">
                  <c:v>20</c:v>
                </c:pt>
                <c:pt idx="4">
                  <c:v>13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Average Rating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38A1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A1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Accessories</c:v>
                  </c:pt>
                  <c:pt idx="1">
                    <c:v>Western
Wear</c:v>
                  </c:pt>
                  <c:pt idx="2">
                    <c:v>Traditional
Wear</c:v>
                  </c:pt>
                  <c:pt idx="3">
                    <c:v>Footwear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3.24</c:v>
                </c:pt>
                <c:pt idx="1">
                  <c:v>2.9</c:v>
                </c:pt>
                <c:pt idx="2">
                  <c:v>2.83</c:v>
                </c:pt>
                <c:pt idx="3">
                  <c:v>2.62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ADCFC"/>
                </a:solidFill>
              </a:rPr>
              <a:t>APEXPLANET SOFTWARE PVT. LTD.  ·  DATA ANALYTICS INTERNSHIP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Storytelling &amp;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Validation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E-Commerce Orders Dataset  ·  Business Insights &amp; Hypothesis Testing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1920240" cy="77724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24612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337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₹8,96,474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3246120"/>
            <a:ext cx="1920240" cy="77724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324612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337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3657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246120"/>
            <a:ext cx="1920240" cy="77724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4612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337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₹8,620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3657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Avg Order Value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3246120"/>
            <a:ext cx="1920240" cy="77724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324612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3337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2.95 / 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3657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Avg Rating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480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90B0"/>
                </a:solidFill>
              </a:rPr>
              <a:t>Gayathri Gollapolu  ·  B.Tech AI &amp; DS, AITS Tirupati  ·  Task 4 of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1206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3931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🎯 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Understand revenue drivers, customer behaviour, and delivery performance across an Indian e-commerce dataset (104 orders, 2024).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🔍 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Tasks 1–3 covered data wrangling, EDA, SQL KPI analysis, and an interactive dashboard to surface patterns.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📌  Conclusions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Accessories dominate revenue; UPI leads payments; return rates are critically high at 30%.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🚀  Call to 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0050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Reduce returns in Traditional Wear, capitalise on Accessories demand, and expand in Bangalore.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822960"/>
            <a:ext cx="3017520" cy="3931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9144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Dataset at a Glance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13716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104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32320" y="14447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Orders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19202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32320" y="19933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Product Types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24688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32320" y="25420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Categories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30175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32320" y="3090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Cities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35661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132320" y="36393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Payment Modes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41148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2024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32320" y="41879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Year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 1  ·  Revenue by Category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10058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96012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10149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🏆 #1 Accessories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6480" y="12984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₹5,12,180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26480" y="16184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57.2% of total revenue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194560"/>
            <a:ext cx="2834640" cy="10058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194560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22494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👘 Traditional Wear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5328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₹1,74,179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126480" y="28529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19.4% — strong 2nd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3429000"/>
            <a:ext cx="2834640" cy="10058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3429000"/>
            <a:ext cx="64008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34838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⚠️ Footwear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26480" y="37673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04"/>
                </a:solidFill>
              </a:rPr>
              <a:t>₹52,503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26480" y="40873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Only 5.9% — needs attention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💡 Business Insight: Focus inventory investment on Accessories. Footwear needs a promotions push.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 2  ·  Order Status — Critical Alert 🚨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754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822960"/>
            <a:ext cx="3291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822960"/>
            <a:ext cx="64008" cy="7772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8595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🔴 Return Rate: 29.8%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0" y="11612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Nearly 1 in 3 orders is returned — revenue leakage!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3291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1783080"/>
            <a:ext cx="64008" cy="7772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18196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🟠 Cancel Rate: 26%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0" y="21214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High cancellations suggest payment or UX friction.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2743200"/>
            <a:ext cx="3291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0" y="2743200"/>
            <a:ext cx="64008" cy="7772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27797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🟢 Delivery Rate: 26.9%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0" y="30815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Less than 27% orders reach customers successfully.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3703320"/>
            <a:ext cx="3291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703320"/>
            <a:ext cx="64008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7398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🔵 Pending: 17.3%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0" y="40416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Operational bottleneck in order fulfilment pipeline.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B0000"/>
                </a:solidFill>
              </a:rPr>
              <a:t>⚠️  Action Required: Implement return reduction strategies in Traditional Wear &amp; Accessories.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 3  ·  Geography &amp; Payment Behaviour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937760" y="82296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730752"/>
            <a:ext cx="8412480" cy="25603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7" name="Text 3"/>
          <p:cNvSpPr/>
          <p:nvPr/>
        </p:nvSpPr>
        <p:spPr>
          <a:xfrm>
            <a:off x="50292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</a:rPr>
              <a:t>📍 Bangalore leads with 22% of all orders — highest market concentration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65760" y="4032504"/>
            <a:ext cx="84124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40507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</a:rPr>
              <a:t>💳 UPI is the preferred payment (27.9%) — digital payments dominate at 59%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4334256"/>
            <a:ext cx="8412480" cy="25603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" y="43525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</a:rPr>
              <a:t>🏙️ Top 4 cities (BLR, Pune, KOL, HYD) account for 67% of business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465429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</a:rPr>
              <a:t>💵 Cash still holds 19.2% — opportunity to push digital adoption further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 4  ·  Customer Satisfaction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Overall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Avg Rating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A623"/>
                </a:solidFill>
              </a:rPr>
              <a:t>2.95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out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⚠️ Below target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Industry benchmark: 3.5+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00400" y="822960"/>
          <a:ext cx="5577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730752"/>
            <a:ext cx="8412480" cy="27432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7490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</a:rPr>
              <a:t>✅ Accessories scores highest (3.24) — quality perception is strongest here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4078224"/>
            <a:ext cx="8412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40965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</a:rPr>
              <a:t>🔴 Footwear scores lowest (2.62) — product quality or fit issues need investigation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4425696"/>
            <a:ext cx="8412480" cy="27432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44439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</a:rPr>
              <a:t>📉 All categories score below 3.5 — a customer satisfaction programme is essential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VALIDATION  ·  Hypothesis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8686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🔬  Hypothesis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H₀ (Null): Accessories revenue per order = Non-Accessories revenue per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H₁ (Alt): Accessories generates significantly HIGHER revenue per order than other 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14800" cy="43891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110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Test Used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911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Independent Samples T-Test (scipy.stats.ttest_ind)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1401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Group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4140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Accessories Orders (n=33)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43891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169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Group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9169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Non-Accessories Orders (n=71)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198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Significance Level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34198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α = 0.05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874520"/>
            <a:ext cx="4023360" cy="28346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965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Test Results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377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Accessories Avg: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2377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₹15,521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7614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Non-Acc Avg: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2761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₹5,413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1455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T-Statistic: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31455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1.6555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5295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P-Value (1-tail):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35295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0.0505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913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95% CI Diff: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3913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(-7.6K, +27.9K)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297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Decision: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42976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A169"/>
                </a:solidFill>
              </a:rPr>
              <a:t>Borderline ⚠️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📊 Conclusion: p = 0.0505 ≈ α (0.05). Borderline result — Accessories mean (₹15,521) is 2.9× higher, but high variance (outliers in dataset) reduces significance. Business impact is real even if marginal statistically.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CALL TO 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🎯  Double Down on Accessories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57% revenue share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Highest customer rating (3.24)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Expand SKU range &amp; marketing budget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77724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777240"/>
            <a:ext cx="64008" cy="1828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</a:rPr>
              <a:t>🚨  Fix Return &amp; Cancellation Rates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52728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30% return rate — major revenue leak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Implement size guides &amp; quality checks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Target: Reduce returns to &lt;15% in 6 months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88920"/>
            <a:ext cx="64008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80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📍  Expand in Bangalore &amp; Pune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64408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Top 2 cities = 38% of all orders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Increase warehouse presence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Run city-specific promotions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788920"/>
            <a:ext cx="64008" cy="18288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880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⭐  Improve Customer Satisfaction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264408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Current avg: 2.95 / 5 (below benchmark)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Launch post-delivery feedback loop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Target: 3.8+ rating within 1 quarter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00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These insights, backed by statistical evidence, provide a clear roadmap to drive revenue growth and improve customer satisfaction.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4754880"/>
            <a:ext cx="8979408" cy="393192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Data Storytelling &amp; Statistical Validation — Task 4 of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4231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👩‍💻   Gayathri Gollapolu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284378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🎓   B.Tech AI &amp; DS · AITS Tirupati · 2027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32644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</a:rPr>
              <a:t>🔗   linkedin.com/in/gayathri-gollapolu-741278362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36850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</a:rPr>
              <a:t>💻   github.com/gayathri200508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410565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🏢   ApexPlanet Software Pvt. Ltd. · Data Analytics Intern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B0"/>
                </a:solidFill>
              </a:rPr>
              <a:t>ApexPlanet Software Pvt. Ltd.  ·  60-Day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ApexPlanet Task 4 – Data Storytelling &amp; Statistical Validation</dc:title>
  <dc:subject>PptxGenJS Presentation</dc:subject>
  <dc:creator>Gayathri Gollapolu</dc:creator>
  <cp:lastModifiedBy>Gayathri Gollapolu</cp:lastModifiedBy>
  <cp:revision>1</cp:revision>
  <dcterms:created xsi:type="dcterms:W3CDTF">2026-03-22T05:40:51Z</dcterms:created>
  <dcterms:modified xsi:type="dcterms:W3CDTF">2026-03-22T05:40:51Z</dcterms:modified>
</cp:coreProperties>
</file>